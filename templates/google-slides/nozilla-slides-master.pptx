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PRÄSENTATION · [KUNDE] · [TT.MM.JJJJ]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6400" b="1">
                <a:solidFill>
                  <a:srgbClr val="000000"/>
                </a:solidFill>
                <a:latin typeface="Zilla Slab"/>
              </a:rPr>
              <a:t>[TITEL 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88920"/>
            <a:ext cx="6263924" cy="111150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854756"/>
            <a:ext cx="6263924" cy="11115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0000"/>
                </a:solidFill>
                <a:latin typeface="Zilla Slab"/>
              </a:rPr>
              <a:t>PRÄSENTATION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96028" y="2852928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0000"/>
                </a:solidFill>
                <a:latin typeface="Zilla Slab"/>
              </a:rPr>
              <a:t>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6908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555555"/>
                </a:solidFill>
                <a:latin typeface="Zilla Slab"/>
              </a:rPr>
              <a:t>[Untertitel in einem Satz — was ist die Kernaussage?]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12064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49240"/>
            <a:ext cx="2286000" cy="621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6800">
                <a:solidFill>
                  <a:srgbClr val="000000"/>
                </a:solidFill>
                <a:latin typeface="Zilla Slab"/>
              </a:rPr>
              <a:t>nozilla</a:t>
            </a:r>
            <a:r>
              <a:rPr b="1" sz="6800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56855" y="534924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[NAME]</a:t>
            </a:r>
          </a:p>
          <a:p>
            <a:pPr algn="r">
              <a:lnSpc>
                <a:spcPct val="15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PRÄSENTATION · [KUNDE] · [TT.MM.JJJJ]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6400" b="1">
                <a:solidFill>
                  <a:srgbClr val="FFFEE5"/>
                </a:solidFill>
                <a:latin typeface="Zilla Slab"/>
              </a:rPr>
              <a:t>[TITEL —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88920"/>
            <a:ext cx="3333780" cy="111150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854756"/>
            <a:ext cx="3333780" cy="11115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0000"/>
                </a:solidFill>
                <a:latin typeface="Zilla Slab"/>
              </a:rPr>
              <a:t>DUNKEL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5884" y="2852928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EE5"/>
                </a:solidFill>
                <a:latin typeface="Zilla Slab"/>
              </a:rPr>
              <a:t>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6908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FFFEE5"/>
                </a:solidFill>
                <a:latin typeface="Zilla Slab"/>
              </a:rPr>
              <a:t>[Untertitel — für Bühne und dunkle Räume.]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12064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49240"/>
            <a:ext cx="2286000" cy="621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6800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6800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0000"/>
                </a:solidFill>
                <a:latin typeface="Zilla Slab"/>
              </a:rPr>
              <a:t>Agenda.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7627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9C"/>
                </a:solidFill>
                <a:latin typeface="Space Mon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231136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[Ausgangslage]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926079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03580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9C"/>
                </a:solidFill>
                <a:latin typeface="Space Mon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980944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[Ziel]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675887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785615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9C"/>
                </a:solidFill>
                <a:latin typeface="Space Mon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73075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[Lösungsansatz]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425696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5354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9C"/>
                </a:solidFill>
                <a:latin typeface="Space Mono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4805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[Vorgehen]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175504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28523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9C"/>
                </a:solidFill>
                <a:latin typeface="Space Mono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5230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[Nächste Schritte]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Space Mono"/>
              </a:rPr>
              <a:t>KAPITEL [N]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7000" b="1">
                <a:solidFill>
                  <a:srgbClr val="000000"/>
                </a:solidFill>
                <a:latin typeface="Zilla Slab"/>
              </a:rPr>
              <a:t>[KAPITEL-</a:t>
            </a:r>
          </a:p>
          <a:p>
            <a:pPr algn="l">
              <a:lnSpc>
                <a:spcPct val="92000"/>
              </a:lnSpc>
            </a:pPr>
            <a:r>
              <a:rPr sz="7000" b="1">
                <a:solidFill>
                  <a:srgbClr val="000000"/>
                </a:solidFill>
                <a:latin typeface="Zilla Slab"/>
              </a:rPr>
              <a:t>TITEL.]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8463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000000"/>
                </a:solidFill>
                <a:latin typeface="Zilla Slab"/>
              </a:rPr>
              <a:t>[Ein Satz, worum es in diesem Kapitel geht.]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FF9C"/>
                </a:solidFill>
                <a:latin typeface="Space Mono"/>
              </a:rPr>
              <a:t>KAPITEL [N]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7000" b="1">
                <a:solidFill>
                  <a:srgbClr val="FFFEE5"/>
                </a:solidFill>
                <a:latin typeface="Zilla Slab"/>
              </a:rPr>
              <a:t>[KAPITEL-</a:t>
            </a:r>
          </a:p>
          <a:p>
            <a:pPr algn="l">
              <a:lnSpc>
                <a:spcPct val="92000"/>
              </a:lnSpc>
            </a:pPr>
            <a:r>
              <a:rPr sz="7000" b="1">
                <a:solidFill>
                  <a:srgbClr val="FFFEE5"/>
                </a:solidFill>
                <a:latin typeface="Zilla Slab"/>
              </a:rPr>
              <a:t>TITEL.]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8463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FFFEE5"/>
                </a:solidFill>
                <a:latin typeface="Zilla Slab"/>
              </a:rPr>
              <a:t>[Ein Satz, worum es in diesem Kapitel geht.]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INHALT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[Überschrift in einem Satz.]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80467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>
                <a:solidFill>
                  <a:srgbClr val="000000"/>
                </a:solidFill>
                <a:latin typeface="Inter"/>
              </a:rPr>
              <a:t>[Fließtext. Direkt, ehrlich, deutsch. Kurze Verben statt langer Substantivketten.</a:t>
            </a:r>
          </a:p>
          <a:p>
            <a:pPr algn="l">
              <a:lnSpc>
                <a:spcPct val="150000"/>
              </a:lnSpc>
            </a:pPr>
            <a:r>
              <a:rPr sz="1700" b="0">
                <a:solidFill>
                  <a:srgbClr val="000000"/>
                </a:solidFill>
                <a:latin typeface="Inter"/>
              </a:rPr>
              <a:t>Eine Behauptung, die man prüfen kann — mit Beleg, Zahl oder Beispiel.</a:t>
            </a:r>
          </a:p>
          <a:p>
            <a:pPr algn="l">
              <a:lnSpc>
                <a:spcPct val="150000"/>
              </a:lnSpc>
            </a:pPr>
            <a:r>
              <a:rPr sz="1700" b="0">
                <a:solidFill>
                  <a:srgbClr val="000000"/>
                </a:solidFill>
                <a:latin typeface="Inte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700" b="0">
                <a:solidFill>
                  <a:srgbClr val="000000"/>
                </a:solidFill>
                <a:latin typeface="Inter"/>
              </a:rPr>
              <a:t>[Zweiter Absatz: Kontext und Einordnung.]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ZWEI SPALTEN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[Überschrift.]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77440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06040"/>
            <a:ext cx="49985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00000"/>
                </a:solidFill>
                <a:latin typeface="Zilla Slab"/>
              </a:rPr>
              <a:t>[Links.]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499856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000000"/>
                </a:solidFill>
                <a:latin typeface="Inter"/>
              </a:rPr>
              <a:t>[Inhalt der linken Spalte. Ein Gedanke pro Spalte.]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2377440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5887" y="2606040"/>
            <a:ext cx="49985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00000"/>
                </a:solidFill>
                <a:latin typeface="Zilla Slab"/>
              </a:rPr>
              <a:t>[Rechts.]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200400"/>
            <a:ext cx="499856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000000"/>
                </a:solidFill>
                <a:latin typeface="Inter"/>
              </a:rPr>
              <a:t>[Inhalt der rechten Spalte. Symmetrie hilft beim Lesen.]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DREI KARTEN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[Drei Bausteine.]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441448"/>
            <a:ext cx="3240938" cy="26517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77440"/>
            <a:ext cx="3240938" cy="26517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11580" y="2811780"/>
            <a:ext cx="205740" cy="205740"/>
          </a:xfrm>
          <a:prstGeom prst="rect">
            <a:avLst/>
          </a:pr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08760" y="2811780"/>
            <a:ext cx="205740" cy="205740"/>
          </a:xfrm>
          <a:prstGeom prst="rect">
            <a:avLst/>
          </a:pr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11580" y="3108960"/>
            <a:ext cx="205740" cy="205740"/>
          </a:xfrm>
          <a:prstGeom prst="rect">
            <a:avLst/>
          </a:pr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08760" y="3108960"/>
            <a:ext cx="205740" cy="205740"/>
          </a:xfrm>
          <a:prstGeom prst="rect">
            <a:avLst/>
          </a:pr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314700"/>
            <a:ext cx="68580" cy="6858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70332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[Struktur]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206240"/>
            <a:ext cx="2600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[Kurzer Text zur Karte.]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39386" y="2441448"/>
            <a:ext cx="3240938" cy="26517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75378" y="2377440"/>
            <a:ext cx="3240938" cy="26517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4932578" y="2903220"/>
            <a:ext cx="137160" cy="320040"/>
          </a:xfrm>
          <a:custGeom>
            <a:avLst/>
            <a:gdLst/>
            <a:ahLst/>
            <a:cxnLst/>
            <a:rect l="l" t="t" r="r" b="b"/>
            <a:pathLst>
              <a:path w="137160" h="320040">
                <a:moveTo>
                  <a:pt x="137160" y="0"/>
                </a:moveTo>
                <a:lnTo>
                  <a:pt x="0" y="160020"/>
                </a:lnTo>
                <a:lnTo>
                  <a:pt x="137160" y="320040"/>
                </a:lnTo>
              </a:path>
            </a:pathLst>
          </a:cu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252618" y="2903220"/>
            <a:ext cx="137160" cy="320040"/>
          </a:xfrm>
          <a:custGeom>
            <a:avLst/>
            <a:gdLst/>
            <a:ahLst/>
            <a:cxnLst/>
            <a:rect l="l" t="t" r="r" b="b"/>
            <a:pathLst>
              <a:path w="137160" h="320040">
                <a:moveTo>
                  <a:pt x="0" y="0"/>
                </a:moveTo>
                <a:lnTo>
                  <a:pt x="137160" y="160020"/>
                </a:lnTo>
                <a:lnTo>
                  <a:pt x="0" y="320040"/>
                </a:lnTo>
              </a:path>
            </a:pathLst>
          </a:cu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>
            <a:off x="5115458" y="2857500"/>
            <a:ext cx="91440" cy="41148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412638" y="3314700"/>
            <a:ext cx="68580" cy="6858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95418" y="370332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[Technik]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95418" y="4206240"/>
            <a:ext cx="2600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[Kurzer Text zur Karte.]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37524" y="2441448"/>
            <a:ext cx="3240938" cy="26517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73516" y="2377440"/>
            <a:ext cx="3240938" cy="26517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8584997" y="2788920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274320" y="0"/>
                </a:moveTo>
                <a:lnTo>
                  <a:pt x="331470" y="217170"/>
                </a:lnTo>
                <a:lnTo>
                  <a:pt x="548640" y="274320"/>
                </a:lnTo>
                <a:lnTo>
                  <a:pt x="331470" y="331470"/>
                </a:lnTo>
                <a:lnTo>
                  <a:pt x="274320" y="548640"/>
                </a:lnTo>
                <a:lnTo>
                  <a:pt x="217170" y="331470"/>
                </a:lnTo>
                <a:lnTo>
                  <a:pt x="0" y="274320"/>
                </a:lnTo>
                <a:lnTo>
                  <a:pt x="217170" y="217170"/>
                </a:lnTo>
                <a:close/>
              </a:path>
            </a:pathLst>
          </a:custGeom>
          <a:solidFill>
            <a:srgbClr val="00FF9C"/>
          </a:solidFill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10777" y="3314700"/>
            <a:ext cx="68580" cy="6858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3556" y="370332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[Wirkung]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3556" y="4206240"/>
            <a:ext cx="2600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[Kurzer Text zur Karte.]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3721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200" b="1">
                <a:solidFill>
                  <a:srgbClr val="000000"/>
                </a:solidFill>
                <a:latin typeface="Zilla Slab"/>
              </a:rPr>
              <a:t>[Ein Satz, der</a:t>
            </a:r>
          </a:p>
          <a:p>
            <a:pPr algn="l">
              <a:lnSpc>
                <a:spcPct val="95000"/>
              </a:lnSpc>
            </a:pPr>
            <a:r>
              <a:rPr sz="6200" b="1">
                <a:solidFill>
                  <a:srgbClr val="000000"/>
                </a:solidFill>
                <a:latin typeface="Zilla Slab"/>
              </a:rPr>
              <a:t>für sich steht.]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754880"/>
            <a:ext cx="1463040" cy="5486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02920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[OPTIONALE EINORDNUNG IN EINER ZEILE.]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ZITAT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54864" cy="292608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737360"/>
            <a:ext cx="8686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>
                <a:solidFill>
                  <a:srgbClr val="000000"/>
                </a:solidFill>
                <a:latin typeface="Zilla Slab"/>
              </a:rPr>
              <a:t>„[Zitat — eine Aussage, die jemand</a:t>
            </a:r>
          </a:p>
          <a:p>
            <a:pPr algn="l">
              <a:lnSpc>
                <a:spcPct val="125000"/>
              </a:lnSpc>
            </a:pPr>
            <a:r>
              <a:rPr sz="3400" b="0">
                <a:solidFill>
                  <a:srgbClr val="000000"/>
                </a:solidFill>
                <a:latin typeface="Zilla Slab"/>
              </a:rPr>
              <a:t>wirklich so sagen würde.]“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114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[NAME], [ROLLE], [FIRMA]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KENNZAHLEN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[Zahlen, die zählen.]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532888"/>
            <a:ext cx="3240938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468880"/>
            <a:ext cx="3240938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788920"/>
            <a:ext cx="26008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[KENNZAHL]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154680"/>
            <a:ext cx="260085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0000"/>
                </a:solidFill>
                <a:latin typeface="Zilla Slab"/>
              </a:rPr>
              <a:t>[XX]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6908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[Erläuterung]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39386" y="2532888"/>
            <a:ext cx="3240938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75378" y="2468880"/>
            <a:ext cx="3240938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95418" y="2788920"/>
            <a:ext cx="26008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[KENNZAHL]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5418" y="3154680"/>
            <a:ext cx="260085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0000"/>
                </a:solidFill>
                <a:latin typeface="Zilla Slab"/>
              </a:rPr>
              <a:t>[NN]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5418" y="406908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[Erläuterung]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37524" y="2532888"/>
            <a:ext cx="3240938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73516" y="2468880"/>
            <a:ext cx="3240938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93556" y="2788920"/>
            <a:ext cx="26008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[KENNZAHL]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3556" y="3154680"/>
            <a:ext cx="260085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0000"/>
                </a:solidFill>
                <a:latin typeface="Zilla Slab"/>
              </a:rPr>
              <a:t>[X,X]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3556" y="406908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[Erläuterung]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VORGEHEN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[Vorgehen in vier Schritten.]</a:t>
            </a:r>
          </a:p>
        </p:txBody>
      </p:sp>
      <p:sp>
        <p:nvSpPr>
          <p:cNvPr id="7" name="Rectangle 6"/>
          <p:cNvSpPr/>
          <p:nvPr/>
        </p:nvSpPr>
        <p:spPr>
          <a:xfrm>
            <a:off x="1344168" y="2788920"/>
            <a:ext cx="217238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514600"/>
            <a:ext cx="566928" cy="566928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[Analyse]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0332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[X WOCHEN]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83481" y="2788920"/>
            <a:ext cx="217238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6553" y="2514600"/>
            <a:ext cx="566928" cy="566928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553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6553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[Prototyp]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6553" y="370332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[X WOCHEN]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22795" y="2788920"/>
            <a:ext cx="217238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55867" y="2514600"/>
            <a:ext cx="566928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5867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5867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[Bau]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5867" y="370332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[X WOCHEN]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95181" y="2514600"/>
            <a:ext cx="566928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95181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5181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[Launch]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5181" y="370332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[X WOCHEN]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TABELLE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[Übersicht.]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0000"/>
                </a:solidFill>
                <a:latin typeface="Space Mono"/>
              </a:rPr>
              <a:t>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23774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0000"/>
                </a:solidFill>
                <a:latin typeface="Space Mono"/>
              </a:rPr>
              <a:t>INHALT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59" y="2377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0000"/>
                </a:solidFill>
                <a:latin typeface="Space Mono"/>
              </a:rPr>
              <a:t>ERGEBNIS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29800" y="237744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0000"/>
                </a:solidFill>
                <a:latin typeface="Space Mono"/>
              </a:rPr>
              <a:t>DAUER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523744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7004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00000"/>
                </a:solidFill>
                <a:latin typeface="Inter"/>
              </a:rPr>
              <a:t>1 · Analyse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67004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67004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67004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[X W.]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090672"/>
            <a:ext cx="10637215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23697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00000"/>
                </a:solidFill>
                <a:latin typeface="Inter"/>
              </a:rPr>
              <a:t>2 · Prototyp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323697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59" y="3236976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9800" y="3236976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[X W.]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657600"/>
            <a:ext cx="10637215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80390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00000"/>
                </a:solidFill>
                <a:latin typeface="Inter"/>
              </a:rPr>
              <a:t>3 · Bau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380390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59" y="380390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380390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[X W.]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224528"/>
            <a:ext cx="10637215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37083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00000"/>
                </a:solidFill>
                <a:latin typeface="Inter"/>
              </a:rPr>
              <a:t>4 · Launch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86200" y="437083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59" y="43708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4370832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[X W.]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791456"/>
            <a:ext cx="10637215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BILD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7" y="1207008"/>
            <a:ext cx="6766560" cy="44805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143000"/>
            <a:ext cx="6766560" cy="448056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555555"/>
                </a:solidFill>
                <a:latin typeface="Space Mono"/>
              </a:rPr>
              <a:t>[ BILD ERSETZEN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23444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000000"/>
                </a:solidFill>
                <a:latin typeface="Zilla Slab"/>
              </a:rPr>
              <a:t>[Bildunterschrift</a:t>
            </a:r>
          </a:p>
          <a:p>
            <a:pPr algn="l">
              <a:lnSpc>
                <a:spcPct val="105000"/>
              </a:lnSpc>
            </a:pPr>
            <a:r>
              <a:rPr sz="2800" b="1">
                <a:solidFill>
                  <a:srgbClr val="000000"/>
                </a:solidFill>
                <a:latin typeface="Zilla Slab"/>
              </a:rPr>
              <a:t>in zwei Zeilen.]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834640"/>
            <a:ext cx="3291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[Kontext zum Bild. Wenn Fotografie, dann schwarzweiß mit Korn — nie Stock.]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LEISTUNGEN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[Was wir tun.]</a:t>
            </a:r>
          </a:p>
        </p:txBody>
      </p:sp>
      <p:sp>
        <p:nvSpPr>
          <p:cNvPr id="7" name="Freeform 6"/>
          <p:cNvSpPr/>
          <p:nvPr/>
        </p:nvSpPr>
        <p:spPr>
          <a:xfrm>
            <a:off x="970121" y="2506028"/>
            <a:ext cx="278607" cy="428624"/>
          </a:xfrm>
          <a:custGeom>
            <a:avLst/>
            <a:gdLst/>
            <a:ahLst/>
            <a:cxnLst/>
            <a:rect l="l" t="t" r="r" b="b"/>
            <a:pathLst>
              <a:path w="278607" h="428624">
                <a:moveTo>
                  <a:pt x="0" y="0"/>
                </a:moveTo>
                <a:lnTo>
                  <a:pt x="0" y="364331"/>
                </a:lnTo>
                <a:lnTo>
                  <a:pt x="96441" y="278606"/>
                </a:lnTo>
                <a:lnTo>
                  <a:pt x="160735" y="428624"/>
                </a:lnTo>
                <a:lnTo>
                  <a:pt x="225028" y="396478"/>
                </a:lnTo>
                <a:lnTo>
                  <a:pt x="160735" y="257174"/>
                </a:lnTo>
                <a:lnTo>
                  <a:pt x="278607" y="257174"/>
                </a:lnTo>
                <a:close/>
              </a:path>
            </a:pathLst>
          </a:cu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55884" y="2956084"/>
            <a:ext cx="64294" cy="6429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[Interface]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61188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[Ein Satz dazu.]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61103" y="2506028"/>
            <a:ext cx="514350" cy="428625"/>
          </a:xfrm>
          <a:prstGeom prst="rect">
            <a:avLst/>
          </a:pr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561103" y="2623899"/>
            <a:ext cx="514350" cy="0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Freeform 12"/>
          <p:cNvSpPr/>
          <p:nvPr/>
        </p:nvSpPr>
        <p:spPr>
          <a:xfrm>
            <a:off x="4646828" y="2731056"/>
            <a:ext cx="64294" cy="107156"/>
          </a:xfrm>
          <a:custGeom>
            <a:avLst/>
            <a:gdLst/>
            <a:ahLst/>
            <a:cxnLst/>
            <a:rect l="l" t="t" r="r" b="b"/>
            <a:pathLst>
              <a:path w="64294" h="107156">
                <a:moveTo>
                  <a:pt x="0" y="0"/>
                </a:moveTo>
                <a:lnTo>
                  <a:pt x="64294" y="53578"/>
                </a:lnTo>
                <a:lnTo>
                  <a:pt x="0" y="107156"/>
                </a:lnTo>
              </a:path>
            </a:pathLst>
          </a:cu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4775416" y="2838212"/>
            <a:ext cx="150019" cy="0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054022" y="2956084"/>
            <a:ext cx="64294" cy="6429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5378" y="324612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[Plattform]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5378" y="361188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[Ein Satz dazu.]</a:t>
            </a:r>
          </a:p>
        </p:txBody>
      </p:sp>
      <p:sp>
        <p:nvSpPr>
          <p:cNvPr id="18" name="Freeform 17"/>
          <p:cNvSpPr/>
          <p:nvPr/>
        </p:nvSpPr>
        <p:spPr>
          <a:xfrm>
            <a:off x="8302104" y="2506028"/>
            <a:ext cx="428625" cy="428624"/>
          </a:xfrm>
          <a:custGeom>
            <a:avLst/>
            <a:gdLst/>
            <a:ahLst/>
            <a:cxnLst/>
            <a:rect l="l" t="t" r="r" b="b"/>
            <a:pathLst>
              <a:path w="428625" h="428624">
                <a:moveTo>
                  <a:pt x="0" y="0"/>
                </a:moveTo>
                <a:lnTo>
                  <a:pt x="428625" y="0"/>
                </a:lnTo>
                <a:lnTo>
                  <a:pt x="428625" y="428624"/>
                </a:lnTo>
                <a:lnTo>
                  <a:pt x="85725" y="428624"/>
                </a:lnTo>
                <a:lnTo>
                  <a:pt x="85725" y="85724"/>
                </a:lnTo>
                <a:lnTo>
                  <a:pt x="342900" y="85724"/>
                </a:lnTo>
                <a:lnTo>
                  <a:pt x="342900" y="342900"/>
                </a:lnTo>
                <a:lnTo>
                  <a:pt x="171450" y="342900"/>
                </a:lnTo>
                <a:lnTo>
                  <a:pt x="171450" y="171450"/>
                </a:lnTo>
                <a:lnTo>
                  <a:pt x="257175" y="171450"/>
                </a:lnTo>
              </a:path>
            </a:pathLst>
          </a:cu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52161" y="2956084"/>
            <a:ext cx="64294" cy="6429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3516" y="324612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[Architektur]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3516" y="361188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[Ein Satz dazu.]</a:t>
            </a:r>
          </a:p>
        </p:txBody>
      </p:sp>
      <p:sp>
        <p:nvSpPr>
          <p:cNvPr id="22" name="Freeform 21"/>
          <p:cNvSpPr/>
          <p:nvPr/>
        </p:nvSpPr>
        <p:spPr>
          <a:xfrm>
            <a:off x="884396" y="4106227"/>
            <a:ext cx="471488" cy="407194"/>
          </a:xfrm>
          <a:custGeom>
            <a:avLst/>
            <a:gdLst/>
            <a:ahLst/>
            <a:cxnLst/>
            <a:rect l="l" t="t" r="r" b="b"/>
            <a:pathLst>
              <a:path w="471488" h="407194">
                <a:moveTo>
                  <a:pt x="0" y="0"/>
                </a:moveTo>
                <a:lnTo>
                  <a:pt x="471488" y="0"/>
                </a:lnTo>
                <a:lnTo>
                  <a:pt x="471488" y="300038"/>
                </a:lnTo>
                <a:lnTo>
                  <a:pt x="171450" y="300038"/>
                </a:lnTo>
                <a:lnTo>
                  <a:pt x="64294" y="407194"/>
                </a:lnTo>
                <a:lnTo>
                  <a:pt x="64294" y="300038"/>
                </a:lnTo>
                <a:lnTo>
                  <a:pt x="0" y="300038"/>
                </a:lnTo>
                <a:close/>
              </a:path>
            </a:pathLst>
          </a:cu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8698" y="4230529"/>
            <a:ext cx="51435" cy="5143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94422" y="4230529"/>
            <a:ext cx="51435" cy="5143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80148" y="4230529"/>
            <a:ext cx="51435" cy="5143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55884" y="4556284"/>
            <a:ext cx="64294" cy="6429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84632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[Beratung]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212079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[Ein Satz dazu.]</a:t>
            </a:r>
          </a:p>
        </p:txBody>
      </p:sp>
      <p:sp>
        <p:nvSpPr>
          <p:cNvPr id="29" name="Oval 28"/>
          <p:cNvSpPr/>
          <p:nvPr/>
        </p:nvSpPr>
        <p:spPr>
          <a:xfrm>
            <a:off x="4657544" y="4159806"/>
            <a:ext cx="321469" cy="321469"/>
          </a:xfrm>
          <a:prstGeom prst="ellipse">
            <a:avLst/>
          </a:pr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764700" y="4266962"/>
            <a:ext cx="107156" cy="107156"/>
          </a:xfrm>
          <a:prstGeom prst="ellipse">
            <a:avLst/>
          </a:pr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4979013" y="4320540"/>
            <a:ext cx="64294" cy="0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818278" y="4481274"/>
            <a:ext cx="0" cy="64294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4593250" y="4320540"/>
            <a:ext cx="64294" cy="0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4818278" y="4095512"/>
            <a:ext cx="0" cy="64294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931864" y="4434126"/>
            <a:ext cx="47149" cy="47148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4657544" y="4434126"/>
            <a:ext cx="47149" cy="47148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4657544" y="4159806"/>
            <a:ext cx="47149" cy="47148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931864" y="4159806"/>
            <a:ext cx="47149" cy="47148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5054022" y="4556284"/>
            <a:ext cx="64294" cy="6429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75378" y="484632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[Betrieb]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75378" y="5212079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[Ein Satz dazu.]</a:t>
            </a:r>
          </a:p>
        </p:txBody>
      </p:sp>
      <p:sp>
        <p:nvSpPr>
          <p:cNvPr id="42" name="Oval 41"/>
          <p:cNvSpPr/>
          <p:nvPr/>
        </p:nvSpPr>
        <p:spPr>
          <a:xfrm>
            <a:off x="8366398" y="4106227"/>
            <a:ext cx="300038" cy="300038"/>
          </a:xfrm>
          <a:prstGeom prst="ellipse">
            <a:avLst/>
          </a:prstGeom>
          <a:solidFill>
            <a:srgbClr val="00FF9C"/>
          </a:solidFill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8430692" y="4449128"/>
            <a:ext cx="171450" cy="0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452123" y="4513421"/>
            <a:ext cx="128588" cy="0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8752161" y="4556284"/>
            <a:ext cx="64294" cy="6429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73516" y="484632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[Prototyp]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3516" y="5212079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[Ein Satz dazu.]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[Wer arbeitet daran.]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77440"/>
            <a:ext cx="2419273" cy="146304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04009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801139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8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15489" y="3346132"/>
            <a:ext cx="77152" cy="77152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80561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16553" y="2377440"/>
            <a:ext cx="2419273" cy="146304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43323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4540453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8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54803" y="3346132"/>
            <a:ext cx="77152" cy="77152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6553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6553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19875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55867" y="2377440"/>
            <a:ext cx="2419273" cy="146304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82637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279767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7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94117" y="3346132"/>
            <a:ext cx="77152" cy="77152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5867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5867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9189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95181" y="2377440"/>
            <a:ext cx="2419273" cy="146304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21951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0019081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7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533431" y="3346132"/>
            <a:ext cx="77152" cy="77152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95181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95181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NÄCHSTE SCHRITTE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[Nächste Schritte.]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441448"/>
            <a:ext cx="10637215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77440"/>
            <a:ext cx="10637215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596896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[Was passiert als Nächstes?]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26517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0000"/>
                </a:solidFill>
                <a:latin typeface="Space Mono"/>
              </a:rPr>
              <a:t>[WER]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1240" y="26517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[BIS WANN]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7" y="3401568"/>
            <a:ext cx="10637215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37560"/>
            <a:ext cx="10637215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557016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[Zweiter Schritt.]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36118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0000"/>
                </a:solidFill>
                <a:latin typeface="Space Mono"/>
              </a:rPr>
              <a:t>[WER]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36118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[BIS WANN]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7" y="4361688"/>
            <a:ext cx="10637215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97680"/>
            <a:ext cx="10637215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17136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[Dritter Schritt.]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45720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0000"/>
                </a:solidFill>
                <a:latin typeface="Space Mono"/>
              </a:rPr>
              <a:t>[WER]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45720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[BIS WANN]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FF9C"/>
                </a:solidFill>
                <a:latin typeface="Space Mono"/>
              </a:rPr>
              <a:t>KONTAKT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EE5"/>
                </a:solidFill>
                <a:latin typeface="Zilla Slab"/>
              </a:rPr>
              <a:t>Gute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9136" y="1975104"/>
            <a:ext cx="3279363" cy="117754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48864" y="2040940"/>
            <a:ext cx="3279363" cy="1177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000000"/>
                </a:solidFill>
                <a:latin typeface="Zilla Slab"/>
              </a:rPr>
              <a:t>digitale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EE5"/>
                </a:solidFill>
                <a:latin typeface="Zilla Slab"/>
              </a:rPr>
              <a:t>Dienste.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70916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377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FFFEE5"/>
                </a:solidFill>
                <a:latin typeface="Space Mono"/>
              </a:rPr>
              <a:t>[NAME] · [ROLLE]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FFFEE5"/>
                </a:solidFill>
                <a:latin typeface="Space Mono"/>
              </a:rPr>
              <a:t>contact@nozilla.de · nozilla.de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19895" y="5029200"/>
            <a:ext cx="2286000" cy="621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6800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6800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STIL-REFERENZ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Farbe &amp; Typo.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77440"/>
            <a:ext cx="2419273" cy="1051560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52044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Space Mono"/>
              </a:rPr>
              <a:t>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6732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#00FF9C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16553" y="2377440"/>
            <a:ext cx="2419273" cy="1051560"/>
          </a:xfrm>
          <a:prstGeom prst="rect">
            <a:avLst/>
          </a:prstGeom>
          <a:solidFill>
            <a:srgbClr val="FFFEE5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6553" y="352044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Space Mono"/>
              </a:rPr>
              <a:t>PAPIER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6553" y="376732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#FFFEE5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55867" y="2377440"/>
            <a:ext cx="2419273" cy="1051560"/>
          </a:xfrm>
          <a:prstGeom prst="rect">
            <a:avLst/>
          </a:prstGeom>
          <a:solidFill>
            <a:srgbClr val="00000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5867" y="352044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Space Mono"/>
              </a:rPr>
              <a:t>TINTE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5867" y="376732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#000000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95181" y="2377440"/>
            <a:ext cx="2419273" cy="1051560"/>
          </a:xfrm>
          <a:prstGeom prst="rect">
            <a:avLst/>
          </a:prstGeom>
          <a:solidFill>
            <a:srgbClr val="0C0C0A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95181" y="352044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Space Mono"/>
              </a:rPr>
              <a:t>INK 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95181" y="376732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#0C0C0A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434840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6177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00000"/>
                </a:solidFill>
                <a:latin typeface="Zilla Slab"/>
              </a:rPr>
              <a:t>Zilla Slab Bold — Display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000000"/>
                </a:solidFill>
                <a:latin typeface="Inter"/>
              </a:rPr>
              <a:t>Inter Regular — Fließtext, 17 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5778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0000"/>
                </a:solidFill>
                <a:latin typeface="Space Mono"/>
              </a:rPr>
              <a:t>SPACE MONO — LABELS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4617720"/>
            <a:ext cx="4114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Radius 0 · harte Schatten (6px Offset) ·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keine Verläufe, kein Blur, kein Glas.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