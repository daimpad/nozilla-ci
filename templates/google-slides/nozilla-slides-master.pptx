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[TITEL 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6263924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6263924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PRÄSENTATION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6028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[Untertitel in einem Satz — was ist die Kernaussage?]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3492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PRÄSENTATION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[TITEL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88920"/>
            <a:ext cx="3333780" cy="111150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54756"/>
            <a:ext cx="3333780" cy="1111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0000"/>
                </a:solidFill>
                <a:latin typeface="Zilla Slab"/>
              </a:rPr>
              <a:t>DUNKEL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5884" y="2852928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EE5"/>
                </a:solidFill>
                <a:latin typeface="Zilla Slab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[Untertitel — für Bühne und dunkle Räume.]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12064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4924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Agenda.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7627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311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[Ausgangslage]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26079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98094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[Ziel]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75887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075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[Lösungsansatz]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35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05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[Vorgehen]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175504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9C"/>
                </a:solidFill>
                <a:latin typeface="Space Mon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230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[Nächste Schritte]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000000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000000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KAPITEL [N]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[KAPITEL-</a:t>
            </a:r>
          </a:p>
          <a:p>
            <a:pPr algn="l">
              <a:lnSpc>
                <a:spcPct val="92000"/>
              </a:lnSpc>
            </a:pPr>
            <a:r>
              <a:rPr sz="7000" b="1">
                <a:solidFill>
                  <a:srgbClr val="FFFEE5"/>
                </a:solidFill>
                <a:latin typeface="Zilla Slab"/>
              </a:rPr>
              <a:t>TITEL.]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FFEE5"/>
                </a:solidFill>
                <a:latin typeface="Zilla Slab"/>
              </a:rPr>
              <a:t>[Ein Satz, worum es in diesem Kapitel geht.]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INHALT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 in einem Satz.]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8046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[Fließtext. Direkt, ehrlich, deutsch. Kurze Verben statt langer Substantivketten.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Eine Behauptung, die man prüfen kann — mit Beleg, Zahl oder Beispiel.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[Zweiter Absatz: Kontext und Einordnung.]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[Überschrift.]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[Links.]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linken Spalte. Ein Gedanke pro Spalte.]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2377440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606040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[Rechts.]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200400"/>
            <a:ext cx="499856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00000"/>
                </a:solidFill>
                <a:latin typeface="Inter"/>
              </a:rPr>
              <a:t>[Inhalt der rechten Spalte. Symmetrie hilft beim Lesen.]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[Drei Bausteine.]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158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08760" y="281178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158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3108960"/>
            <a:ext cx="205740" cy="205740"/>
          </a:xfrm>
          <a:prstGeom prst="rect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[Struktur]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9386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75378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93257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137160" y="0"/>
                </a:moveTo>
                <a:lnTo>
                  <a:pt x="0" y="160020"/>
                </a:lnTo>
                <a:lnTo>
                  <a:pt x="13716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5252618" y="2903220"/>
            <a:ext cx="137160" cy="320040"/>
          </a:xfrm>
          <a:custGeom>
            <a:avLst/>
            <a:gdLst/>
            <a:ahLst/>
            <a:cxnLst/>
            <a:rect l="l" t="t" r="r" b="b"/>
            <a:pathLst>
              <a:path w="137160" h="320040">
                <a:moveTo>
                  <a:pt x="0" y="0"/>
                </a:moveTo>
                <a:lnTo>
                  <a:pt x="137160" y="160020"/>
                </a:lnTo>
                <a:lnTo>
                  <a:pt x="0" y="32004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5115458" y="2857500"/>
            <a:ext cx="9144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95418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[Technik]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95418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37524" y="2441448"/>
            <a:ext cx="3240938" cy="2651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73516" y="2377440"/>
            <a:ext cx="3240938" cy="26517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8584997" y="278892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274320" y="0"/>
                </a:moveTo>
                <a:lnTo>
                  <a:pt x="331470" y="217170"/>
                </a:lnTo>
                <a:lnTo>
                  <a:pt x="548640" y="274320"/>
                </a:lnTo>
                <a:lnTo>
                  <a:pt x="331470" y="331470"/>
                </a:lnTo>
                <a:lnTo>
                  <a:pt x="274320" y="548640"/>
                </a:lnTo>
                <a:lnTo>
                  <a:pt x="217170" y="331470"/>
                </a:lnTo>
                <a:lnTo>
                  <a:pt x="0" y="274320"/>
                </a:lnTo>
                <a:lnTo>
                  <a:pt x="217170" y="217170"/>
                </a:lnTo>
                <a:close/>
              </a:path>
            </a:pathLst>
          </a:custGeom>
          <a:solidFill>
            <a:srgbClr val="00FF9C"/>
          </a:solidFill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3556" y="370332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[Wirkung]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3556" y="420624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[Kurzer Text zur Karte.]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[Ein Satz, der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für sich steht.]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54880"/>
            <a:ext cx="146304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[OPTIONALE EINORDNUNG IN EINER ZEILE.]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ZITAT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54864" cy="29260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8686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„[Zitat — eine Aussage, die jemand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000000"/>
                </a:solidFill>
                <a:latin typeface="Zilla Slab"/>
              </a:rPr>
              <a:t>wirklich so sagen würde.]“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14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KENNZAHLEN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[Zahlen, die zählen.]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[KENNZAHL]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0000"/>
                </a:solidFill>
                <a:latin typeface="Zilla Slab"/>
              </a:rPr>
              <a:t>[X,X]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[Erläuterung]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[Vorgehen in vier Schritten.]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[Analyse]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[Bau]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[Launch]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[X WOCHEN]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TABELLE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[Übersicht.]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INHALT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ERGEBNIS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23774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0000"/>
                </a:solidFill>
                <a:latin typeface="Space Mono"/>
              </a:rPr>
              <a:t>DAUER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23744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1 · 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6700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670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6700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2 · Prototyp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2369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3236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323697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657600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3 · 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039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38039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24528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00000"/>
                </a:solidFill>
                <a:latin typeface="Inter"/>
              </a:rPr>
              <a:t>4 ·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3708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3708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[…]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43708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[X W.]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91456"/>
            <a:ext cx="10637215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BILD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[Bildunterschrift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in zwei Zeilen.]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8346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[Kontext zum Bild. Wenn Fotografie, dann schwarzweiß mit Korn — nie Stock.]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LEISTUNGEN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[Was wir tun.]</a:t>
            </a:r>
          </a:p>
        </p:txBody>
      </p:sp>
      <p:sp>
        <p:nvSpPr>
          <p:cNvPr id="7" name="Freeform 6"/>
          <p:cNvSpPr/>
          <p:nvPr/>
        </p:nvSpPr>
        <p:spPr>
          <a:xfrm>
            <a:off x="970121" y="2506028"/>
            <a:ext cx="278607" cy="428624"/>
          </a:xfrm>
          <a:custGeom>
            <a:avLst/>
            <a:gdLst/>
            <a:ahLst/>
            <a:cxnLst/>
            <a:rect l="l" t="t" r="r" b="b"/>
            <a:pathLst>
              <a:path w="278607" h="428624">
                <a:moveTo>
                  <a:pt x="0" y="0"/>
                </a:moveTo>
                <a:lnTo>
                  <a:pt x="0" y="364331"/>
                </a:lnTo>
                <a:lnTo>
                  <a:pt x="96441" y="278606"/>
                </a:lnTo>
                <a:lnTo>
                  <a:pt x="160735" y="428624"/>
                </a:lnTo>
                <a:lnTo>
                  <a:pt x="225028" y="396478"/>
                </a:lnTo>
                <a:lnTo>
                  <a:pt x="160735" y="257174"/>
                </a:lnTo>
                <a:lnTo>
                  <a:pt x="278607" y="257174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[Interface]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1103" y="2506028"/>
            <a:ext cx="514350" cy="428625"/>
          </a:xfrm>
          <a:prstGeom prst="rect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61103" y="2623899"/>
            <a:ext cx="5143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4646828" y="2731056"/>
            <a:ext cx="64294" cy="107156"/>
          </a:xfrm>
          <a:custGeom>
            <a:avLst/>
            <a:gdLst/>
            <a:ahLst/>
            <a:cxnLst/>
            <a:rect l="l" t="t" r="r" b="b"/>
            <a:pathLst>
              <a:path w="64294" h="107156">
                <a:moveTo>
                  <a:pt x="0" y="0"/>
                </a:moveTo>
                <a:lnTo>
                  <a:pt x="64294" y="53578"/>
                </a:lnTo>
                <a:lnTo>
                  <a:pt x="0" y="107156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775416" y="2838212"/>
            <a:ext cx="150019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75378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[Plattform]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378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6" name="Freeform 15"/>
          <p:cNvSpPr/>
          <p:nvPr/>
        </p:nvSpPr>
        <p:spPr>
          <a:xfrm>
            <a:off x="8302104" y="2506028"/>
            <a:ext cx="428625" cy="428624"/>
          </a:xfrm>
          <a:custGeom>
            <a:avLst/>
            <a:gdLst/>
            <a:ahLst/>
            <a:cxnLst/>
            <a:rect l="l" t="t" r="r" b="b"/>
            <a:pathLst>
              <a:path w="428625" h="428624">
                <a:moveTo>
                  <a:pt x="0" y="0"/>
                </a:moveTo>
                <a:lnTo>
                  <a:pt x="428625" y="0"/>
                </a:lnTo>
                <a:lnTo>
                  <a:pt x="428625" y="428624"/>
                </a:lnTo>
                <a:lnTo>
                  <a:pt x="85725" y="428624"/>
                </a:lnTo>
                <a:lnTo>
                  <a:pt x="85725" y="85724"/>
                </a:lnTo>
                <a:lnTo>
                  <a:pt x="342900" y="85724"/>
                </a:lnTo>
                <a:lnTo>
                  <a:pt x="342900" y="342900"/>
                </a:lnTo>
                <a:lnTo>
                  <a:pt x="171450" y="342900"/>
                </a:lnTo>
                <a:lnTo>
                  <a:pt x="171450" y="171450"/>
                </a:lnTo>
                <a:lnTo>
                  <a:pt x="257175" y="171450"/>
                </a:lnTo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3516" y="32461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[Architektur]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3516" y="361188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19" name="Freeform 18"/>
          <p:cNvSpPr/>
          <p:nvPr/>
        </p:nvSpPr>
        <p:spPr>
          <a:xfrm>
            <a:off x="884396" y="4106227"/>
            <a:ext cx="471488" cy="407194"/>
          </a:xfrm>
          <a:custGeom>
            <a:avLst/>
            <a:gdLst/>
            <a:ahLst/>
            <a:cxnLst/>
            <a:rect l="l" t="t" r="r" b="b"/>
            <a:pathLst>
              <a:path w="471488" h="407194">
                <a:moveTo>
                  <a:pt x="0" y="0"/>
                </a:moveTo>
                <a:lnTo>
                  <a:pt x="471488" y="0"/>
                </a:lnTo>
                <a:lnTo>
                  <a:pt x="471488" y="300038"/>
                </a:lnTo>
                <a:lnTo>
                  <a:pt x="171450" y="300038"/>
                </a:lnTo>
                <a:lnTo>
                  <a:pt x="64294" y="407194"/>
                </a:lnTo>
                <a:lnTo>
                  <a:pt x="64294" y="300038"/>
                </a:lnTo>
                <a:lnTo>
                  <a:pt x="0" y="300038"/>
                </a:lnTo>
                <a:close/>
              </a:path>
            </a:pathLst>
          </a:cu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69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422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80148" y="4230529"/>
            <a:ext cx="51435" cy="5143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[Beratung]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25" name="Oval 24"/>
          <p:cNvSpPr/>
          <p:nvPr/>
        </p:nvSpPr>
        <p:spPr>
          <a:xfrm>
            <a:off x="4657544" y="4159806"/>
            <a:ext cx="321469" cy="321469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64700" y="4266962"/>
            <a:ext cx="107156" cy="107156"/>
          </a:xfrm>
          <a:prstGeom prst="ellipse">
            <a:avLst/>
          </a:prstGeom>
          <a:noFill/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79013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18278" y="4481274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4593250" y="4320540"/>
            <a:ext cx="64294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818278" y="4095512"/>
            <a:ext cx="0" cy="64294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3186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657544" y="443412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465754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931864" y="4159806"/>
            <a:ext cx="47149" cy="47148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475378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[Betrieb]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5378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37" name="Oval 36"/>
          <p:cNvSpPr/>
          <p:nvPr/>
        </p:nvSpPr>
        <p:spPr>
          <a:xfrm>
            <a:off x="8366398" y="4106227"/>
            <a:ext cx="300038" cy="300038"/>
          </a:xfrm>
          <a:prstGeom prst="ellipse">
            <a:avLst/>
          </a:prstGeom>
          <a:solidFill>
            <a:srgbClr val="00FF9C"/>
          </a:solidFill>
          <a:ln w="4286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430692" y="4449128"/>
            <a:ext cx="171450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52123" y="4513421"/>
            <a:ext cx="128588" cy="0"/>
          </a:xfrm>
          <a:prstGeom prst="line">
            <a:avLst/>
          </a:prstGeom>
          <a:ln w="42862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73516" y="484632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[Prototyp]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3516" y="5212079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[Ein Satz dazu.]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[Wer arbeitet daran.]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NÄCHSTE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[Nächste Schritte.]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[Was passiert als Nächstes?]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651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[Zweiter Schritt.]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[Dritter Schritt.]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572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[WER]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4572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[BIS WANN]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KONTAKT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Gute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9136" y="1975104"/>
            <a:ext cx="3279363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8864" y="2040940"/>
            <a:ext cx="3279363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EE5"/>
                </a:solidFill>
                <a:latin typeface="Zilla Slab"/>
              </a:rPr>
              <a:t>Dienste.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0916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9895" y="502920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STIL-REFERENZ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00000"/>
                </a:solidFill>
                <a:latin typeface="Zilla Slab"/>
              </a:rPr>
              <a:t>Farbe &amp; Typo.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2419273" cy="105156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#00FF9C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6553" y="2377440"/>
            <a:ext cx="2419273" cy="1051560"/>
          </a:xfrm>
          <a:prstGeom prst="rect">
            <a:avLst/>
          </a:prstGeom>
          <a:solidFill>
            <a:srgbClr val="FFFEE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PAPIER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6553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#FFFEE5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377440"/>
            <a:ext cx="2419273" cy="105156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5867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TINTE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867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#000000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5181" y="2377440"/>
            <a:ext cx="2419273" cy="1051560"/>
          </a:xfrm>
          <a:prstGeom prst="rect">
            <a:avLst/>
          </a:prstGeom>
          <a:solidFill>
            <a:srgbClr val="0C0C0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5181" y="3520440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Space Mono"/>
              </a:rPr>
              <a:t>INK 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5181" y="376732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#0C0C0A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34840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Zilla Slab"/>
              </a:rPr>
              <a:t>Zilla Slab Bold —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00000"/>
                </a:solidFill>
                <a:latin typeface="Inter"/>
              </a:rPr>
              <a:t>Inter Regular — Fließtext, 17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Space Mono"/>
              </a:rPr>
              <a:t>SPACE MONO —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61772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Radius 0 · harte Schatten (6px Offset) ·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keine Verläufe, kein Blur, kein Glas.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