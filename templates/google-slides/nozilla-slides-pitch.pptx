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PITCH · [KUNDE] · [TT.MM.JJJJ]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1">
                <a:solidFill>
                  <a:srgbClr val="000000"/>
                </a:solidFill>
                <a:latin typeface="Zilla Slab"/>
              </a:rPr>
              <a:t>[Wir lösen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4290786" cy="107848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809036"/>
            <a:ext cx="4290786" cy="10784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000000"/>
                </a:solidFill>
                <a:latin typeface="Zilla Slab"/>
              </a:rPr>
              <a:t>ein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2890" y="2798064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000000"/>
                </a:solidFill>
                <a:latin typeface="Zilla Slab"/>
              </a:rPr>
              <a:t>,]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1">
                <a:solidFill>
                  <a:srgbClr val="000000"/>
                </a:solidFill>
                <a:latin typeface="Zilla Slab"/>
              </a:rPr>
              <a:t>[das Sie täglich Geld kostet.]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2120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228600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6800">
                <a:solidFill>
                  <a:srgbClr val="000000"/>
                </a:solidFill>
                <a:latin typeface="Zilla Slab"/>
              </a:rPr>
              <a:t>nozilla</a:t>
            </a:r>
            <a:r>
              <a:rPr b="1" sz="6800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6855" y="5440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[NAME] · [ROLLE]</a:t>
            </a:r>
          </a:p>
          <a:p>
            <a:pPr algn="r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contact@nozilla.de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[Das Problem.]</a:t>
            </a:r>
          </a:p>
        </p:txBody>
      </p:sp>
      <p:sp>
        <p:nvSpPr>
          <p:cNvPr id="7" name="Freeform 6"/>
          <p:cNvSpPr/>
          <p:nvPr/>
        </p:nvSpPr>
        <p:spPr>
          <a:xfrm>
            <a:off x="891540" y="2468880"/>
            <a:ext cx="502920" cy="480060"/>
          </a:xfrm>
          <a:custGeom>
            <a:avLst/>
            <a:gdLst/>
            <a:ahLst/>
            <a:cxnLst/>
            <a:rect l="l" t="t" r="r" b="b"/>
            <a:pathLst>
              <a:path w="502920" h="480060">
                <a:moveTo>
                  <a:pt x="251460" y="0"/>
                </a:moveTo>
                <a:lnTo>
                  <a:pt x="502920" y="480060"/>
                </a:lnTo>
                <a:lnTo>
                  <a:pt x="0" y="480060"/>
                </a:lnTo>
                <a:close/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43000" y="2651760"/>
            <a:ext cx="0" cy="14859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13282" y="2850642"/>
            <a:ext cx="59436" cy="5943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94460" y="2994660"/>
            <a:ext cx="68580" cy="685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[Symptom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32409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[Was passiert heute — messbar.]</a:t>
            </a:r>
          </a:p>
        </p:txBody>
      </p:sp>
      <p:sp>
        <p:nvSpPr>
          <p:cNvPr id="13" name="Oval 12"/>
          <p:cNvSpPr/>
          <p:nvPr/>
        </p:nvSpPr>
        <p:spPr>
          <a:xfrm>
            <a:off x="4601108" y="2503170"/>
            <a:ext cx="480060" cy="480060"/>
          </a:xfrm>
          <a:prstGeom prst="ellipse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4841138" y="2594610"/>
            <a:ext cx="0" cy="14859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1138" y="2743200"/>
            <a:ext cx="125730" cy="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92598" y="2994660"/>
            <a:ext cx="68580" cy="685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5378" y="329184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[Symptom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378" y="3749039"/>
            <a:ext cx="32409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[Was es kostet — in Zeit oder Geld.]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3537" y="2537460"/>
            <a:ext cx="411480" cy="41148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333537" y="2537460"/>
            <a:ext cx="411480" cy="41148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790737" y="2994660"/>
            <a:ext cx="68580" cy="685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3516" y="329184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[Symptom 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3749039"/>
            <a:ext cx="32409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[Was dadurch nicht geht.]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02 · WARUM JETZT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[Warum jetzt?]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000000"/>
                </a:solidFill>
                <a:latin typeface="Zilla Slab"/>
              </a:rPr>
              <a:t>[Ein Satz, der den Zeitdruck begründet — Markt, Technik, Regulierung oder</a:t>
            </a:r>
          </a:p>
          <a:p>
            <a:pPr algn="l">
              <a:lnSpc>
                <a:spcPct val="125000"/>
              </a:lnSpc>
            </a:pPr>
            <a:r>
              <a:rPr sz="2600" b="0">
                <a:solidFill>
                  <a:srgbClr val="000000"/>
                </a:solidFill>
                <a:latin typeface="Zilla Slab"/>
              </a:rPr>
              <a:t>schlicht: die Altlast wird teurer als der Umbau.]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023360"/>
            <a:ext cx="1828800" cy="5486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[BELEG: ZAHL, STUDIE ODER EIGENE MESSUNG.]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03 · 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[Unsere Lösung.]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350008"/>
            <a:ext cx="10637215" cy="228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0637215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1602" y="2854642"/>
            <a:ext cx="600075" cy="600075"/>
          </a:xfrm>
          <a:prstGeom prst="ellipse">
            <a:avLst/>
          </a:prstGeom>
          <a:noFill/>
          <a:ln w="571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4478" y="2997518"/>
            <a:ext cx="314325" cy="314325"/>
          </a:xfrm>
          <a:prstGeom prst="ellipse">
            <a:avLst/>
          </a:prstGeom>
          <a:noFill/>
          <a:ln w="571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346" y="3090386"/>
            <a:ext cx="128588" cy="128588"/>
          </a:xfrm>
          <a:prstGeom prst="ellipse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05965" y="3469005"/>
            <a:ext cx="85725" cy="85725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78892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0000"/>
                </a:solidFill>
                <a:latin typeface="Zilla Slab"/>
              </a:rPr>
              <a:t>[In einem Satz: was wir bauen und was danach anders ist.]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97763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[Zweite Zeile: die Einschränkung, ehrlich benannt.]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04 · SO FUNKTIONIERT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[So funktioniert es.]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2788920"/>
            <a:ext cx="217238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66928" cy="566928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[Erfassen]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24192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[Was rein geht.]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3481" y="2788920"/>
            <a:ext cx="217238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6553" y="2514600"/>
            <a:ext cx="566928" cy="566928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6553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[Verarbeiten]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6553" y="3703320"/>
            <a:ext cx="24192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[Was passiert.]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2795" y="2788920"/>
            <a:ext cx="217238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5867" y="2514600"/>
            <a:ext cx="566928" cy="566928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5867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867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[Ausliefern]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3703320"/>
            <a:ext cx="24192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[Was raus kommt.]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5181" y="2514600"/>
            <a:ext cx="566928" cy="566928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5181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5181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[Messen]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5181" y="3703320"/>
            <a:ext cx="24192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[Woran wir es prüfen.]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05 ·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7" y="1207008"/>
            <a:ext cx="6766560" cy="44805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6766560" cy="448056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555"/>
                </a:solidFill>
                <a:latin typeface="Space Mono"/>
              </a:rPr>
              <a:t>[ SCREENSHOT ERSETZEN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2344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Zilla Slab"/>
              </a:rPr>
              <a:t>[Was man hier sieht.]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3774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[Drei Sätze zum Screen: was der Nutzer tut, was das System tut,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warum es schneller ist als vorher.]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06 · NUTZEN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[Was es bringt.]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532888"/>
            <a:ext cx="3240938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24093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600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[AUFWAND]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6008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[−XX]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[Womit gemessen?]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9386" y="2532888"/>
            <a:ext cx="3240938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5378" y="2468880"/>
            <a:ext cx="324093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5418" y="2788920"/>
            <a:ext cx="2600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[DURCHSATZ]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5418" y="3154680"/>
            <a:ext cx="26008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[+XX]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5418" y="406908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[Womit gemessen?]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7524" y="2532888"/>
            <a:ext cx="3240938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3516" y="2468880"/>
            <a:ext cx="324093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3556" y="2788920"/>
            <a:ext cx="2600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[TIME TO VALUE]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3556" y="3154680"/>
            <a:ext cx="26008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[X] Wo.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406908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[Ab wann spürbar?]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07 · WARUM NOZILLA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Warum nozilla.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441448"/>
            <a:ext cx="3240938" cy="2468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3240938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234440" y="2880360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0" y="205740"/>
                </a:moveTo>
                <a:lnTo>
                  <a:pt x="160020" y="365760"/>
                </a:lnTo>
                <a:lnTo>
                  <a:pt x="457200" y="0"/>
                </a:lnTo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314700"/>
            <a:ext cx="68580" cy="685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Direkt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600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Wir sagen, was geht — und was nicht.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9386" y="2441448"/>
            <a:ext cx="3240938" cy="2468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5378" y="2377440"/>
            <a:ext cx="3240938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89728" y="2891790"/>
            <a:ext cx="342900" cy="342900"/>
          </a:xfrm>
          <a:prstGeom prst="ellipse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04028" y="3006090"/>
            <a:ext cx="114300" cy="114300"/>
          </a:xfrm>
          <a:prstGeom prst="ellipse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32628" y="3063240"/>
            <a:ext cx="68580" cy="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61178" y="3234690"/>
            <a:ext cx="0" cy="6858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21148" y="3063240"/>
            <a:ext cx="68580" cy="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61178" y="2823210"/>
            <a:ext cx="0" cy="6858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82336" y="3184398"/>
            <a:ext cx="50292" cy="50292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989728" y="3184398"/>
            <a:ext cx="50292" cy="50292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989728" y="2891790"/>
            <a:ext cx="50292" cy="50292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282336" y="2891790"/>
            <a:ext cx="50292" cy="50292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12638" y="3314700"/>
            <a:ext cx="68580" cy="685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5418" y="365760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Handwerklich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5418" y="4114800"/>
            <a:ext cx="2600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Linien werden gezogen, nicht gefiltert.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7524" y="2441448"/>
            <a:ext cx="3240938" cy="24688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3516" y="2377440"/>
            <a:ext cx="3240938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745017" y="2788920"/>
            <a:ext cx="228600" cy="422910"/>
          </a:xfrm>
          <a:custGeom>
            <a:avLst/>
            <a:gdLst/>
            <a:ahLst/>
            <a:cxnLst/>
            <a:rect l="l" t="t" r="r" b="b"/>
            <a:pathLst>
              <a:path w="228600" h="422910">
                <a:moveTo>
                  <a:pt x="114300" y="0"/>
                </a:moveTo>
                <a:lnTo>
                  <a:pt x="228600" y="217170"/>
                </a:lnTo>
                <a:lnTo>
                  <a:pt x="228600" y="422910"/>
                </a:lnTo>
                <a:lnTo>
                  <a:pt x="0" y="422910"/>
                </a:lnTo>
                <a:lnTo>
                  <a:pt x="0" y="217170"/>
                </a:lnTo>
                <a:close/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642147" y="3086100"/>
            <a:ext cx="102870" cy="194310"/>
          </a:xfrm>
          <a:custGeom>
            <a:avLst/>
            <a:gdLst/>
            <a:ahLst/>
            <a:cxnLst/>
            <a:rect l="l" t="t" r="r" b="b"/>
            <a:pathLst>
              <a:path w="102870" h="194310">
                <a:moveTo>
                  <a:pt x="102870" y="0"/>
                </a:moveTo>
                <a:lnTo>
                  <a:pt x="0" y="194310"/>
                </a:lnTo>
                <a:lnTo>
                  <a:pt x="102870" y="125730"/>
                </a:lnTo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973617" y="3086100"/>
            <a:ext cx="102870" cy="194310"/>
          </a:xfrm>
          <a:custGeom>
            <a:avLst/>
            <a:gdLst/>
            <a:ahLst/>
            <a:cxnLst/>
            <a:rect l="l" t="t" r="r" b="b"/>
            <a:pathLst>
              <a:path w="102870" h="194310">
                <a:moveTo>
                  <a:pt x="0" y="0"/>
                </a:moveTo>
                <a:lnTo>
                  <a:pt x="102870" y="194310"/>
                </a:lnTo>
                <a:lnTo>
                  <a:pt x="0" y="125730"/>
                </a:lnTo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07882" y="2931795"/>
            <a:ext cx="102870" cy="102870"/>
          </a:xfrm>
          <a:prstGeom prst="ellipse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10777" y="3314700"/>
            <a:ext cx="68580" cy="685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93556" y="365760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Inkrementell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3556" y="4114800"/>
            <a:ext cx="2600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Ablösen ohne Stillstand, mit Messpunkten.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08 · 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00000"/>
                </a:solidFill>
                <a:latin typeface="Zilla Slab"/>
              </a:rPr>
              <a:t>[Referenz: [PROJEKT].]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54864" cy="182880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000000"/>
                </a:solidFill>
                <a:latin typeface="Zilla Slab"/>
              </a:rPr>
              <a:t>„[Kundenzitat — konkret, ohne Superlative.]“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[NAME], [ROLLE], [FIRMA]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77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0000"/>
                </a:solidFill>
                <a:latin typeface="Zilla Slab"/>
              </a:rPr>
              <a:t>[XX]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[ERGEBNIS]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377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0000"/>
                </a:solidFill>
                <a:latin typeface="Zilla Slab"/>
              </a:rPr>
              <a:t>[NN]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[ERGEBNIS]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09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[Wer es baut.]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04009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801139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8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15489" y="3346132"/>
            <a:ext cx="77152" cy="7715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561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6553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3323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540453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8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4803" y="3346132"/>
            <a:ext cx="77152" cy="7715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6553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6553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9875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5867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82637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279767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7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4117" y="3346132"/>
            <a:ext cx="77152" cy="7715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5867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867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9189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5181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21951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019081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7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33431" y="3346132"/>
            <a:ext cx="77152" cy="77152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95181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5181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10 · INVESTITION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0000"/>
                </a:solidFill>
                <a:latin typeface="Zilla Slab"/>
              </a:rPr>
              <a:t>[Investition.]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441448"/>
            <a:ext cx="10637215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10637215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968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[Phase 1 · Analyse]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651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[Was drin ist.]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5968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Space Mono"/>
              </a:rPr>
              <a:t>[€ …]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3401568"/>
            <a:ext cx="10637215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10637215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570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[Phase 2 · Bau]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[Was drin ist.]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5570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Space Mono"/>
              </a:rPr>
              <a:t>[€ …]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7" y="4361688"/>
            <a:ext cx="10637215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97680"/>
            <a:ext cx="10637215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17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[Phase 3 · Betrieb]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572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[Was drin ist.]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451713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Space Mono"/>
              </a:rPr>
              <a:t>[€ … / Monat]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[Festpreis oder Aufwand — und was ausdrücklich nicht enthalten ist.]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FF9C"/>
                </a:solidFill>
                <a:latin typeface="Space Mono"/>
              </a:rPr>
              <a:t>NÄCHSTER SCHRITT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EE5"/>
                </a:solidFill>
                <a:latin typeface="Zilla Slab"/>
              </a:rPr>
              <a:t>[Lassen Sie 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26080"/>
            <a:ext cx="3239074" cy="101244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991916"/>
            <a:ext cx="3239074" cy="10124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000000"/>
                </a:solidFill>
                <a:latin typeface="Zilla Slab"/>
              </a:rPr>
              <a:t>anfangen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1178" y="2980944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EE5"/>
                </a:solidFill>
                <a:latin typeface="Zilla Slab"/>
              </a:rPr>
              <a:t>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EE5"/>
                </a:solidFill>
                <a:latin typeface="Zilla Slab"/>
              </a:rPr>
              <a:t>[Konkret: WER macht WAS bis WANN.]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84632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FFEE5"/>
                </a:solidFill>
                <a:latin typeface="Space Mono"/>
              </a:rPr>
              <a:t>[NAME] · [ROLLE]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FFFEE5"/>
                </a:solidFill>
                <a:latin typeface="Space Mono"/>
              </a:rPr>
              <a:t>contact@nozilla.de · nozilla.de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9895" y="5166360"/>
            <a:ext cx="228600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6800">
                <a:solidFill>
                  <a:srgbClr val="FFFEE5"/>
                </a:solidFill>
                <a:latin typeface="Zilla Slab"/>
              </a:rPr>
              <a:t>nozilla</a:t>
            </a:r>
            <a:r>
              <a:rPr b="1" sz="6800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