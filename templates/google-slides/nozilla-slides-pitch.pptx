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PITCH · [KUNDE] · [TT.MM.JJJJ]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73736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[Wir lösen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743200"/>
            <a:ext cx="4290786" cy="107848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809036"/>
            <a:ext cx="4290786" cy="107848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ein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2890" y="2798064"/>
            <a:ext cx="1280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,]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9476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6200" b="1">
                <a:solidFill>
                  <a:srgbClr val="000000"/>
                </a:solidFill>
                <a:latin typeface="Zilla Slab"/>
              </a:rPr>
              <a:t>[das Sie täglich Geld kostet.]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5212080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44068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000000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56855" y="544068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[NAME] · [ROLLE]</a:t>
            </a:r>
          </a:p>
          <a:p>
            <a:pPr algn="r">
              <a:lnSpc>
                <a:spcPct val="15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contact@nozilla.de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[Das Problem.]</a:t>
            </a:r>
          </a:p>
        </p:txBody>
      </p:sp>
      <p:sp>
        <p:nvSpPr>
          <p:cNvPr id="7" name="Freeform 6"/>
          <p:cNvSpPr/>
          <p:nvPr/>
        </p:nvSpPr>
        <p:spPr>
          <a:xfrm>
            <a:off x="868680" y="2480310"/>
            <a:ext cx="548640" cy="502920"/>
          </a:xfrm>
          <a:custGeom>
            <a:avLst/>
            <a:gdLst/>
            <a:ahLst/>
            <a:cxnLst/>
            <a:rect l="l" t="t" r="r" b="b"/>
            <a:pathLst>
              <a:path w="548640" h="502920">
                <a:moveTo>
                  <a:pt x="274320" y="0"/>
                </a:moveTo>
                <a:lnTo>
                  <a:pt x="548640" y="502920"/>
                </a:lnTo>
                <a:lnTo>
                  <a:pt x="0" y="50292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1143000" y="2674620"/>
            <a:ext cx="0" cy="16002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113282" y="2884932"/>
            <a:ext cx="59436" cy="59436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94460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1]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passiert heute — messbar.]</a:t>
            </a:r>
          </a:p>
        </p:txBody>
      </p:sp>
      <p:sp>
        <p:nvSpPr>
          <p:cNvPr id="13" name="Oval 12"/>
          <p:cNvSpPr/>
          <p:nvPr/>
        </p:nvSpPr>
        <p:spPr>
          <a:xfrm>
            <a:off x="4601108" y="2503170"/>
            <a:ext cx="480060" cy="48006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 flipV="1">
            <a:off x="4841138" y="2594610"/>
            <a:ext cx="0" cy="14859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841138" y="2743200"/>
            <a:ext cx="12573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5092598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5378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2]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75378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es kostet — in Zeit oder Geld.]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8333537" y="2537460"/>
            <a:ext cx="411480" cy="4114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8790737" y="299466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3516" y="3291840"/>
            <a:ext cx="324093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[Symptom 3]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3516" y="3749039"/>
            <a:ext cx="324093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[Was dadurch nicht geht.]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02 · WARUM JETZT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[Warum jetzt?]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8686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[Ein Satz, der den Zeitdruck begründet — Markt, Technik, Regulierung oder</a:t>
            </a:r>
          </a:p>
          <a:p>
            <a:pPr algn="l">
              <a:lnSpc>
                <a:spcPct val="125000"/>
              </a:lnSpc>
            </a:pPr>
            <a:r>
              <a:rPr sz="2600" b="0">
                <a:solidFill>
                  <a:srgbClr val="000000"/>
                </a:solidFill>
                <a:latin typeface="Zilla Slab"/>
              </a:rPr>
              <a:t>schlicht: die Altlast wird teurer als der Umbau.]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4023360"/>
            <a:ext cx="1828800" cy="5486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29768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[BELEG: ZAHL, STUDIE ODER EIGENE MESSUNG.]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03 · LÖSUNG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[Unsere Lösung.]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350008"/>
            <a:ext cx="10637215" cy="22860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286000"/>
            <a:ext cx="10637215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1602" y="2854642"/>
            <a:ext cx="600075" cy="60007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534478" y="2997518"/>
            <a:ext cx="314325" cy="314325"/>
          </a:xfrm>
          <a:prstGeom prst="ellipse">
            <a:avLst/>
          </a:prstGeom>
          <a:noFill/>
          <a:ln w="571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627346" y="3090386"/>
            <a:ext cx="128588" cy="128588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05965" y="3469005"/>
            <a:ext cx="85725" cy="85725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06040" y="2788920"/>
            <a:ext cx="8229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[In einem Satz: was wir bauen und was danach anders ist.]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06040" y="3977639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[Zweite Zeile: die Einschränkung, ehrlich benannt.]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04 · SO FUNKTIONIERT 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[So funktioniert es.]</a:t>
            </a:r>
          </a:p>
        </p:txBody>
      </p:sp>
      <p:sp>
        <p:nvSpPr>
          <p:cNvPr id="7" name="Rectangle 6"/>
          <p:cNvSpPr/>
          <p:nvPr/>
        </p:nvSpPr>
        <p:spPr>
          <a:xfrm>
            <a:off x="1344168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[Erfassen]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rein geht.]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083481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16553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16553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16553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[Verarbeiten]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16553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passiert.]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22795" y="2788920"/>
            <a:ext cx="217238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55867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55867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867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[Ausliefern]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867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raus kommt.]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5181" y="2514600"/>
            <a:ext cx="566928" cy="566928"/>
          </a:xfrm>
          <a:prstGeom prst="rect">
            <a:avLst/>
          </a:prstGeom>
          <a:solidFill>
            <a:srgbClr val="00FF9C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95181" y="2633472"/>
            <a:ext cx="566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>
                <a:solidFill>
                  <a:srgbClr val="000000"/>
                </a:solidFill>
                <a:latin typeface="Space Mon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95181" y="329184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[Messen]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95181" y="3703320"/>
            <a:ext cx="2419273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[Woran wir es prüfen.]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05 · PRODUKT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1247" y="1207008"/>
            <a:ext cx="6766560" cy="448056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143000"/>
            <a:ext cx="6766560" cy="448056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3200400"/>
            <a:ext cx="6766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555555"/>
                </a:solidFill>
                <a:latin typeface="Space Mono"/>
              </a:rPr>
              <a:t>[ SCREENSHOT ERSETZEN 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123444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000000"/>
                </a:solidFill>
                <a:latin typeface="Zilla Slab"/>
              </a:rPr>
              <a:t>[Was man hier sieht.]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2377440"/>
            <a:ext cx="32918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[Drei Sätze zum Screen: was der Nutzer tut, was das System tut,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warum es schneller ist als vorher.]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06 · NUTZEN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[Was es bringt.]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[AUFWAND]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[−XX]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39386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75378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95418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[DURCHSATZ]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5418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[+XX]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5418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[Womit gemessen?]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37524" y="2532888"/>
            <a:ext cx="3240938" cy="210312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73516" y="2468880"/>
            <a:ext cx="3240938" cy="210312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93556" y="2788920"/>
            <a:ext cx="260085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[TIME TO VALUE]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93556" y="3154680"/>
            <a:ext cx="260085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[X] Wo.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93556" y="406908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[Ab wann spürbar?]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07 · WARUM NOZILLA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Warum nozilla.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Freeform 8"/>
          <p:cNvSpPr/>
          <p:nvPr/>
        </p:nvSpPr>
        <p:spPr>
          <a:xfrm>
            <a:off x="1234440" y="2880360"/>
            <a:ext cx="457200" cy="365760"/>
          </a:xfrm>
          <a:custGeom>
            <a:avLst/>
            <a:gdLst/>
            <a:ahLst/>
            <a:cxnLst/>
            <a:rect l="l" t="t" r="r" b="b"/>
            <a:pathLst>
              <a:path w="457200" h="365760">
                <a:moveTo>
                  <a:pt x="0" y="205740"/>
                </a:moveTo>
                <a:lnTo>
                  <a:pt x="160020" y="365760"/>
                </a:lnTo>
                <a:lnTo>
                  <a:pt x="457200" y="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714500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Direkt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Wir sagen, was geht — und was nicht.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39386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75378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89728" y="2891790"/>
            <a:ext cx="342900" cy="3429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104028" y="3006090"/>
            <a:ext cx="114300" cy="114300"/>
          </a:xfrm>
          <a:prstGeom prst="ellipse">
            <a:avLst/>
          </a:pr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533262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61178" y="323469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4921148" y="3063240"/>
            <a:ext cx="68580" cy="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161178" y="2823210"/>
            <a:ext cx="0" cy="68580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336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989728" y="3184398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 flipV="1">
            <a:off x="4989728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282336" y="2891790"/>
            <a:ext cx="50292" cy="50292"/>
          </a:xfrm>
          <a:prstGeom prst="line">
            <a:avLst/>
          </a:prstGeom>
          <a:ln w="457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/>
          <p:cNvSpPr/>
          <p:nvPr/>
        </p:nvSpPr>
        <p:spPr>
          <a:xfrm>
            <a:off x="5412638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95418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Handwerklich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5418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Linien werden gezogen, nicht gefiltert.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37524" y="2441448"/>
            <a:ext cx="3240938" cy="246888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73516" y="2377440"/>
            <a:ext cx="3240938" cy="2468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Freeform 29"/>
          <p:cNvSpPr/>
          <p:nvPr/>
        </p:nvSpPr>
        <p:spPr>
          <a:xfrm>
            <a:off x="8745017" y="2788920"/>
            <a:ext cx="228600" cy="422910"/>
          </a:xfrm>
          <a:custGeom>
            <a:avLst/>
            <a:gdLst/>
            <a:ahLst/>
            <a:cxnLst/>
            <a:rect l="l" t="t" r="r" b="b"/>
            <a:pathLst>
              <a:path w="228600" h="422910">
                <a:moveTo>
                  <a:pt x="114300" y="0"/>
                </a:moveTo>
                <a:lnTo>
                  <a:pt x="228600" y="217170"/>
                </a:lnTo>
                <a:lnTo>
                  <a:pt x="228600" y="422910"/>
                </a:lnTo>
                <a:lnTo>
                  <a:pt x="0" y="422910"/>
                </a:lnTo>
                <a:lnTo>
                  <a:pt x="0" y="217170"/>
                </a:lnTo>
                <a:close/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864214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102870" y="0"/>
                </a:moveTo>
                <a:lnTo>
                  <a:pt x="0" y="194310"/>
                </a:lnTo>
                <a:lnTo>
                  <a:pt x="10287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Freeform 31"/>
          <p:cNvSpPr/>
          <p:nvPr/>
        </p:nvSpPr>
        <p:spPr>
          <a:xfrm>
            <a:off x="8973617" y="3086100"/>
            <a:ext cx="102870" cy="194310"/>
          </a:xfrm>
          <a:custGeom>
            <a:avLst/>
            <a:gdLst/>
            <a:ahLst/>
            <a:cxnLst/>
            <a:rect l="l" t="t" r="r" b="b"/>
            <a:pathLst>
              <a:path w="102870" h="194310">
                <a:moveTo>
                  <a:pt x="0" y="0"/>
                </a:moveTo>
                <a:lnTo>
                  <a:pt x="102870" y="194310"/>
                </a:lnTo>
                <a:lnTo>
                  <a:pt x="0" y="125730"/>
                </a:lnTo>
              </a:path>
            </a:pathLst>
          </a:custGeom>
          <a:noFill/>
          <a:ln w="4572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807882" y="2931795"/>
            <a:ext cx="102870" cy="102870"/>
          </a:xfrm>
          <a:prstGeom prst="ellipse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110777" y="3314700"/>
            <a:ext cx="68580" cy="6858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93556" y="3657600"/>
            <a:ext cx="260085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0000"/>
                </a:solidFill>
                <a:latin typeface="Zilla Slab"/>
              </a:rPr>
              <a:t>Inkrementell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93556" y="4114800"/>
            <a:ext cx="260085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555555"/>
                </a:solidFill>
                <a:latin typeface="Inter"/>
              </a:rPr>
              <a:t>Ablösen ohne Stillstand, mit Messpunkten.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08 · REFERENZ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00000"/>
                </a:solidFill>
                <a:latin typeface="Zilla Slab"/>
              </a:rPr>
              <a:t>[Referenz: [PROJEKT].]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286000"/>
            <a:ext cx="54864" cy="1828800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7772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800" b="0">
                <a:solidFill>
                  <a:srgbClr val="000000"/>
                </a:solidFill>
                <a:latin typeface="Zilla Slab"/>
              </a:rPr>
              <a:t>„[Kundenzitat — konkret, ohne Superlative.]“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6576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555555"/>
                </a:solidFill>
                <a:latin typeface="Space Mono"/>
              </a:rPr>
              <a:t>[NAME], [ROLLE], [FIRMA]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[XX]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20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12680" y="2377440"/>
            <a:ext cx="1463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000000"/>
                </a:solidFill>
                <a:latin typeface="Zilla Slab"/>
              </a:rPr>
              <a:t>[NN]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97180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[ERGEBNIS]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09 ·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[Wer es baut.]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904009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1801139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5489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80561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16553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643323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Freeform 16"/>
          <p:cNvSpPr/>
          <p:nvPr/>
        </p:nvSpPr>
        <p:spPr>
          <a:xfrm>
            <a:off x="4540453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8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54803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16553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16553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19875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55867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82637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279767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794117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5867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867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9189" y="2441448"/>
            <a:ext cx="2419273" cy="1463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95181" y="2377440"/>
            <a:ext cx="2419273" cy="1463040"/>
          </a:xfrm>
          <a:prstGeom prst="rect">
            <a:avLst/>
          </a:prstGeom>
          <a:solidFill>
            <a:srgbClr val="F2F2F0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121951" y="2806065"/>
            <a:ext cx="257175" cy="257175"/>
          </a:xfrm>
          <a:prstGeom prst="ellipse">
            <a:avLst/>
          </a:pr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reeform 30"/>
          <p:cNvSpPr/>
          <p:nvPr/>
        </p:nvSpPr>
        <p:spPr>
          <a:xfrm>
            <a:off x="10019081" y="3153251"/>
            <a:ext cx="462915" cy="167164"/>
          </a:xfrm>
          <a:custGeom>
            <a:avLst/>
            <a:gdLst/>
            <a:ahLst/>
            <a:cxnLst/>
            <a:rect l="l" t="t" r="r" b="b"/>
            <a:pathLst>
              <a:path w="462915" h="167164">
                <a:moveTo>
                  <a:pt x="0" y="167164"/>
                </a:moveTo>
                <a:lnTo>
                  <a:pt x="51435" y="51435"/>
                </a:lnTo>
                <a:lnTo>
                  <a:pt x="231457" y="0"/>
                </a:lnTo>
                <a:lnTo>
                  <a:pt x="411480" y="51435"/>
                </a:lnTo>
                <a:lnTo>
                  <a:pt x="462915" y="167164"/>
                </a:lnTo>
              </a:path>
            </a:pathLst>
          </a:custGeom>
          <a:noFill/>
          <a:ln w="5143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533431" y="3346132"/>
            <a:ext cx="77152" cy="77152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95181" y="4023360"/>
            <a:ext cx="2419273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00000"/>
                </a:solidFill>
                <a:latin typeface="Zilla Slab"/>
              </a:rPr>
              <a:t>[NAME]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95181" y="4407408"/>
            <a:ext cx="2419273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[ROLLE]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10 · INVESTITION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42455" y="384048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// GUTE DIGITALE DIENSTE.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713232"/>
            <a:ext cx="10637215" cy="254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143000"/>
            <a:ext cx="82296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4400" b="1">
                <a:solidFill>
                  <a:srgbClr val="000000"/>
                </a:solidFill>
                <a:latin typeface="Zilla Slab"/>
              </a:rPr>
              <a:t>[Investition.]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44144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237744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59689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1 · Analyse]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265176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55480" y="259689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7" y="340156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33756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55701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2 · Bau]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36118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55701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7" y="4361688"/>
            <a:ext cx="10637215" cy="7772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517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00000"/>
                </a:solidFill>
                <a:latin typeface="Zilla Slab"/>
              </a:rPr>
              <a:t>[Phase 3 · Betrieb]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45720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[Was drin ist.]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55480" y="4517136"/>
            <a:ext cx="1737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500" b="1">
                <a:solidFill>
                  <a:srgbClr val="000000"/>
                </a:solidFill>
                <a:latin typeface="Space Mono"/>
              </a:rPr>
              <a:t>[€ … / Monat]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40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55555"/>
                </a:solidFill>
                <a:latin typeface="Inter"/>
              </a:rPr>
              <a:t>[Festpreis oder Aufwand — und was ausdrücklich nicht enthalten ist.]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" y="6199632"/>
            <a:ext cx="10637215" cy="12700"/>
          </a:xfrm>
          <a:prstGeom prst="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6309360"/>
            <a:ext cx="480060" cy="1305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1428">
                <a:solidFill>
                  <a:srgbClr val="555555"/>
                </a:solidFill>
                <a:latin typeface="Zilla Slab"/>
              </a:rPr>
              <a:t>nozilla</a:t>
            </a:r>
            <a:r>
              <a:rPr b="1" sz="1428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585655" y="63276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555555"/>
                </a:solidFill>
                <a:latin typeface="Space Mon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C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48640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00FF9C"/>
                </a:solidFill>
                <a:latin typeface="Space Mono"/>
              </a:rPr>
              <a:t>NÄCHSTER SCHRITT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86868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20240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[Lassen Sie uns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2926080"/>
            <a:ext cx="3239074" cy="1012444"/>
          </a:xfrm>
          <a:prstGeom prst="rect">
            <a:avLst/>
          </a:prstGeom>
          <a:solidFill>
            <a:srgbClr val="00F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991916"/>
            <a:ext cx="3239074" cy="10124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000000"/>
                </a:solidFill>
                <a:latin typeface="Zilla Slab"/>
              </a:rPr>
              <a:t>anfangen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71178" y="2980944"/>
            <a:ext cx="914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EE5"/>
                </a:solidFill>
                <a:latin typeface="Zilla Slab"/>
              </a:rPr>
              <a:t>.]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FFFEE5"/>
                </a:solidFill>
                <a:latin typeface="Zilla Slab"/>
              </a:rPr>
              <a:t>[Konkret: WER macht WAS bis WANN.]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4846320"/>
            <a:ext cx="10637215" cy="25400"/>
          </a:xfrm>
          <a:prstGeom prst="rect">
            <a:avLst/>
          </a:prstGeom>
          <a:solidFill>
            <a:srgbClr val="FFFE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5074920"/>
            <a:ext cx="5486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[NAME] · [ROLLE]</a:t>
            </a:r>
          </a:p>
          <a:p>
            <a:pPr algn="l">
              <a:lnSpc>
                <a:spcPct val="160000"/>
              </a:lnSpc>
            </a:pPr>
            <a:r>
              <a:rPr sz="1300" b="0">
                <a:solidFill>
                  <a:srgbClr val="FFFEE5"/>
                </a:solidFill>
                <a:latin typeface="Space Mono"/>
              </a:rPr>
              <a:t>contact@nozilla.de · nozilla.de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19895" y="5166360"/>
            <a:ext cx="2286000" cy="6217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sz="6800">
                <a:solidFill>
                  <a:srgbClr val="FFFEE5"/>
                </a:solidFill>
                <a:latin typeface="Zilla Slab"/>
              </a:rPr>
              <a:t>nozilla</a:t>
            </a:r>
            <a:r>
              <a:rPr b="1" sz="6800">
                <a:solidFill>
                  <a:srgbClr val="00FF9C"/>
                </a:solidFill>
                <a:latin typeface="Zilla Slab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