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PITCH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[Wir lösen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4290786" cy="107848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09036"/>
            <a:ext cx="4290786" cy="1078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ein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2890" y="2798064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,]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[das Sie täglich Geld kostet.]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2120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440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 · [ROLLE]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contact@nozilla.de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[Das Problem.]</a:t>
            </a:r>
          </a:p>
        </p:txBody>
      </p:sp>
      <p:sp>
        <p:nvSpPr>
          <p:cNvPr id="7" name="Freeform 6"/>
          <p:cNvSpPr/>
          <p:nvPr/>
        </p:nvSpPr>
        <p:spPr>
          <a:xfrm>
            <a:off x="891540" y="2468880"/>
            <a:ext cx="502920" cy="480060"/>
          </a:xfrm>
          <a:custGeom>
            <a:avLst/>
            <a:gdLst/>
            <a:ahLst/>
            <a:cxnLst/>
            <a:rect l="l" t="t" r="r" b="b"/>
            <a:pathLst>
              <a:path w="502920" h="480060">
                <a:moveTo>
                  <a:pt x="251460" y="0"/>
                </a:moveTo>
                <a:lnTo>
                  <a:pt x="502920" y="480060"/>
                </a:lnTo>
                <a:lnTo>
                  <a:pt x="0" y="48006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43000" y="2651760"/>
            <a:ext cx="0" cy="14859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113282" y="2850642"/>
            <a:ext cx="59436" cy="59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94460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passiert heute — messbar.]</a:t>
            </a:r>
          </a:p>
        </p:txBody>
      </p:sp>
      <p:sp>
        <p:nvSpPr>
          <p:cNvPr id="13" name="Oval 12"/>
          <p:cNvSpPr/>
          <p:nvPr/>
        </p:nvSpPr>
        <p:spPr>
          <a:xfrm>
            <a:off x="4601108" y="2503170"/>
            <a:ext cx="480060" cy="48006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4841138" y="2594610"/>
            <a:ext cx="0" cy="14859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41138" y="2743200"/>
            <a:ext cx="12573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92598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5378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378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es kostet — in Zeit oder Geld.]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90737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dadurch nicht geht.]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02 · WARUM JETZT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[Warum jetzt?]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[Ein Satz, der den Zeitdruck begründet — Markt, Technik, Regulierung oder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schlicht: die Altlast wird teurer als der Umbau.]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23360"/>
            <a:ext cx="182880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[BELEG: ZAHL, STUDIE ODER EIGENE MESSUNG.]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03 · LÖSUNG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[Unsere Lösung.]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350008"/>
            <a:ext cx="10637215" cy="2286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7215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1602" y="2854642"/>
            <a:ext cx="600075" cy="60007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4478" y="2997518"/>
            <a:ext cx="314325" cy="31432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346" y="3090386"/>
            <a:ext cx="128588" cy="128588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05965" y="3469005"/>
            <a:ext cx="85725" cy="8572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7889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[In einem Satz: was wir bauen und was danach anders ist.]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9776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[Zweite Zeile: die Einschränkung, ehrlich benannt.]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04 · SO FUNKTIONIERT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[So funktioniert es.]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[Erfassen]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rein geht.]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[Verarbeiten]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passiert.]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[Ausliefern]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raus kommt.]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[Messen]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[Woran wir es prüfen.]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05 · PRODUKT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SCREENSHOT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[Was man hier sieht.]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7744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[Drei Sätze zum Screen: was der Nutzer tut, was das System tut,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warum es schneller ist als vorher.]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06 · NUTZEN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[Was es bringt.]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[AUFWAND]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[−XX]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[DURCHSATZ]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[+XX]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[TIME TO VALUE]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[X] Wo.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[Ab wann spürbar?]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07 · WARUM NOZILLA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Warum nozilla.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234440" y="2880360"/>
            <a:ext cx="457200" cy="365760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0" y="205740"/>
                </a:moveTo>
                <a:lnTo>
                  <a:pt x="160020" y="365760"/>
                </a:lnTo>
                <a:lnTo>
                  <a:pt x="457200" y="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Direkt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Wir sagen, was geht — und was nicht.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39386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5378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89728" y="2891790"/>
            <a:ext cx="342900" cy="3429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04028" y="3006090"/>
            <a:ext cx="114300" cy="1143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33262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61178" y="323469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92114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161178" y="282321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336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989728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4989728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282336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412638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5418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Handwerklich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5418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Linien werden gezogen, nicht gefiltert.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37524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3516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745017" y="2788920"/>
            <a:ext cx="228600" cy="422910"/>
          </a:xfrm>
          <a:custGeom>
            <a:avLst/>
            <a:gdLst/>
            <a:ahLst/>
            <a:cxnLst/>
            <a:rect l="l" t="t" r="r" b="b"/>
            <a:pathLst>
              <a:path w="228600" h="422910">
                <a:moveTo>
                  <a:pt x="114300" y="0"/>
                </a:moveTo>
                <a:lnTo>
                  <a:pt x="228600" y="217170"/>
                </a:lnTo>
                <a:lnTo>
                  <a:pt x="228600" y="422910"/>
                </a:lnTo>
                <a:lnTo>
                  <a:pt x="0" y="422910"/>
                </a:lnTo>
                <a:lnTo>
                  <a:pt x="0" y="21717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864214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102870" y="0"/>
                </a:moveTo>
                <a:lnTo>
                  <a:pt x="0" y="194310"/>
                </a:lnTo>
                <a:lnTo>
                  <a:pt x="10287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897361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0" y="0"/>
                </a:moveTo>
                <a:lnTo>
                  <a:pt x="102870" y="194310"/>
                </a:lnTo>
                <a:lnTo>
                  <a:pt x="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07882" y="2931795"/>
            <a:ext cx="102870" cy="102870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10777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93556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Inkrementell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93556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Ablösen ohne Stillstand, mit Messpunkten.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08 · 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00000"/>
                </a:solidFill>
                <a:latin typeface="Zilla Slab"/>
              </a:rPr>
              <a:t>[Referenz: [PROJEKT].]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4864" cy="18288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00000"/>
                </a:solidFill>
                <a:latin typeface="Zilla Slab"/>
              </a:rPr>
              <a:t>„[Kundenzitat — konkret, ohne Superlative.]“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09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[Wer es baut.]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5489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4803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94117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33431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 · INVESTITION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[Investition.]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1 · Analyse]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9689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2 · Bau]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5570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3 · Betrieb]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572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45171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 / Monat]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[Festpreis oder Aufwand — und was ausdrücklich nicht enthalten ist.]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NÄCHSTER SCHRITT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[Lassen Sie 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239074" cy="10124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991916"/>
            <a:ext cx="3239074" cy="10124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000000"/>
                </a:solidFill>
                <a:latin typeface="Zilla Slab"/>
              </a:rPr>
              <a:t>anfangen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1178" y="2980944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[Konkret: WER macht WAS bis WANN.]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84632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516636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